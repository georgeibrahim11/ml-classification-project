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036-472D-85AA-CAAAD5746D0B}"/>
              </c:ext>
            </c:extLst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036-472D-85AA-CAAAD5746D0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Default (0)</c:v>
                </c:pt>
                <c:pt idx="1">
                  <c:v>Default (1)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23364</c:v>
                </c:pt>
                <c:pt idx="1">
                  <c:v>6636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036-472D-85AA-CAAAD5746D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Rate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-2 (No usage)</c:v>
                </c:pt>
                <c:pt idx="1">
                  <c:v>-1 (Paid full)</c:v>
                </c:pt>
                <c:pt idx="2">
                  <c:v>0 (Min. paid)</c:v>
                </c:pt>
                <c:pt idx="3">
                  <c:v>1 (1mo late)</c:v>
                </c:pt>
                <c:pt idx="4">
                  <c:v>2 (2mo late)</c:v>
                </c:pt>
                <c:pt idx="5">
                  <c:v>3+ (3mo+ late)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3.2</c:v>
                </c:pt>
                <c:pt idx="1">
                  <c:v>4.0999999999999996</c:v>
                </c:pt>
                <c:pt idx="2">
                  <c:v>21.8</c:v>
                </c:pt>
                <c:pt idx="3">
                  <c:v>51.6</c:v>
                </c:pt>
                <c:pt idx="4">
                  <c:v>68.5</c:v>
                </c:pt>
                <c:pt idx="5">
                  <c:v>79.3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9F-4E2E-A669-E7E295B8702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Default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max_delay</c:v>
                </c:pt>
                <c:pt idx="1">
                  <c:v>num_delays</c:v>
                </c:pt>
                <c:pt idx="2">
                  <c:v>avg_pay_status</c:v>
                </c:pt>
                <c:pt idx="3">
                  <c:v>util_rate</c:v>
                </c:pt>
                <c:pt idx="4">
                  <c:v>revolving</c:v>
                </c:pt>
                <c:pt idx="5">
                  <c:v>payment_ratio</c:v>
                </c:pt>
                <c:pt idx="6">
                  <c:v>paid_vs_billed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0.31</c:v>
                </c:pt>
                <c:pt idx="1">
                  <c:v>0.28000000000000003</c:v>
                </c:pt>
                <c:pt idx="2">
                  <c:v>0.26</c:v>
                </c:pt>
                <c:pt idx="3">
                  <c:v>0.12</c:v>
                </c:pt>
                <c:pt idx="4">
                  <c:v>0.1</c:v>
                </c:pt>
                <c:pt idx="5">
                  <c:v>-0.15</c:v>
                </c:pt>
                <c:pt idx="6">
                  <c:v>-0.18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5F-4F53-8B89-DABACDDDB1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"/>
          <c:min val="-0.2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2098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601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Default Prediction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Machine Learning Classification Study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0" y="2514600"/>
            <a:ext cx="4572000" cy="36576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CSE374 — Machine Learning  </a:t>
            </a: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Credit Card Default (Taiwan)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Moheb Abdelshaheed  ·  George Ibrahim Abdo  ·  Abdalla Ragaee Ahmed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 Shams University  ·  Faculty of Engineering  ·  May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6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— Final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92608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Dataset Overview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223760" y="365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92608" y="896112"/>
            <a:ext cx="40233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92608" y="896112"/>
            <a:ext cx="4023360" cy="310896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02336" y="896112"/>
            <a:ext cx="3895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2336" y="1261872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a credit card client will DEFAULT next month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classification: 1 = default, 0 = no default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30,000 clients, 23 features, 6 months of behavior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UCI Machine Learning Repository (Taiwan, 2005)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dataset (+2 bonus points)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896112"/>
            <a:ext cx="41148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896112"/>
            <a:ext cx="4114800" cy="310896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81728" y="896112"/>
            <a:ext cx="3986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Features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81728" y="1261872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LIMIT_BAL — credit limit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SEX, EDUCATION, MARRIAGE, AGE — demographics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PAY_0 – PAY_6 — monthly repayment status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BILL_AMT1–6 — monthly bill statement amounts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PAY_AMT1–6 — actual payments made each month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2608" y="4462272"/>
            <a:ext cx="8394192" cy="50292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44622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Missed defaulters = unrecovered debt.  Better predictions → early bank intervention.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92608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Challenges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223760" y="365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92608" y="896112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92608" y="896112"/>
            <a:ext cx="109728" cy="16916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9875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2801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77.9% no-default vs 22.1% default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Accuracy is misleading; need F1 &amp; AUC-ROC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72968" y="896112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72968" y="896112"/>
            <a:ext cx="109728" cy="169164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37560" y="9875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 Distributions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12801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amounts reach 964,000 NT$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Winsorization at 1st/99th percentile applied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53328" y="896112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53328" y="896112"/>
            <a:ext cx="109728" cy="169164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9875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Category Codes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12801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values 0,5,6 undocumented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Merged into 'Other' category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2608" y="2724912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92608" y="2724912"/>
            <a:ext cx="109728" cy="1691640"/>
          </a:xfrm>
          <a:prstGeom prst="rect">
            <a:avLst/>
          </a:prstGeom>
          <a:solidFill>
            <a:srgbClr val="1E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8163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Features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1089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bill columns are highly correlated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Feature engineering instead of raw columns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72968" y="2724912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172968" y="2724912"/>
            <a:ext cx="109728" cy="169164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37560" y="28163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Cases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37560" y="31089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Financially normal clients who suddenly default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Model misses them (false negatives)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53328" y="2724912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053328" y="2724912"/>
            <a:ext cx="109728" cy="1691640"/>
          </a:xfrm>
          <a:prstGeom prst="rect">
            <a:avLst/>
          </a:prstGeom>
          <a:solidFill>
            <a:srgbClr val="884E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17920" y="28163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4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Income Data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31089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salary, employment status, or credit score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Ceiling on model performance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92608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223760" y="365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92608" y="896112"/>
            <a:ext cx="839419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92608" y="896112"/>
            <a:ext cx="566928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" y="896112"/>
            <a:ext cx="566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9418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Category Codes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243584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(0,5,6) and MARRIAGE (0) are undocumented → merged into 'Other'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" y="1719072"/>
            <a:ext cx="839419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92608" y="1719072"/>
            <a:ext cx="566928" cy="7315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92608" y="1719072"/>
            <a:ext cx="566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1764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Winsorize Outliers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066544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bill/payment amounts at 1st–99th percentile → prevents outliers distorting scale-sensitive models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2608" y="2542032"/>
            <a:ext cx="839419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92608" y="2542032"/>
            <a:ext cx="566928" cy="731520"/>
          </a:xfrm>
          <a:prstGeom prst="rect">
            <a:avLst/>
          </a:prstGeom>
          <a:solidFill>
            <a:srgbClr val="1E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2608" y="2542032"/>
            <a:ext cx="566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2587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 Split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2889504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 · 10% validation · 20% test — stratified to preserve 22.1% default rate in each split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2608" y="3364992"/>
            <a:ext cx="839419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92608" y="3364992"/>
            <a:ext cx="566928" cy="73152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92608" y="3364992"/>
            <a:ext cx="566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34107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RobustScaler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" y="3712464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using median &amp; IQR — less affected by remaining skewness than StandardScaler. Fit on train only.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2608" y="4187952"/>
            <a:ext cx="839419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92608" y="4187952"/>
            <a:ext cx="566928" cy="73152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92608" y="4187952"/>
            <a:ext cx="566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60120" y="42336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(training only)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0120" y="4535424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synthetic minority samples in feature space. Applied AFTER splitting — never to val or test set.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92608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Class Distribution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223760" y="365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868680"/>
          <a:ext cx="47548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349240" y="868680"/>
            <a:ext cx="34290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349240" y="868680"/>
            <a:ext cx="3429000" cy="34747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58968" y="8686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58968" y="1298448"/>
            <a:ext cx="3200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77.9% clients did NOT default (23,364)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22.1% clients DID default (6,636)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78:22 ratio → moderate imbalance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is misleading: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all 'No Default' = 78% accuracy but USELESS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F1-score &amp; AUC-ROC as primary metrics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applied to balance training set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92608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Payment Status vs Default Rate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223760" y="365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868680"/>
          <a:ext cx="5029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623560" y="868680"/>
            <a:ext cx="31546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623560" y="868680"/>
            <a:ext cx="3154680" cy="34747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733288" y="8686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733288" y="1298448"/>
            <a:ext cx="2926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PAY_0 = most recent payment status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paid in full: only ~4% default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2 months late: 68.5% default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months late: 79% default!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PAY_0 is the single strongest predictor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Motivated engineering: max_delay &amp; num_delays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why payment history dominates importance charts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92608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Correlations &amp; Feature Engineering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223760" y="365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92608" y="868680"/>
          <a:ext cx="45720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074920" y="868680"/>
            <a:ext cx="37033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074920" y="868680"/>
            <a:ext cx="3703320" cy="310896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184648" y="868680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Engineered Features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184648" y="1234440"/>
            <a:ext cx="3520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max_delay — worst delay in 6 months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num_delays — count of late months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avg_pay_status — typical delay level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payment_ratio — total paid / total billed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util_rate — BILL_AMT1 / LIMIT_BAL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avg_bill_change — rising debt trend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paid_vs_billed — recent payment coverage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revolving — never fully paid any month (25.5% vs 15.5% default rate)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92608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Used &amp; Hyperparameter Tuning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223760" y="365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92608" y="896112"/>
            <a:ext cx="40233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92608" y="896112"/>
            <a:ext cx="4023360" cy="32918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02336" y="896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" y="1280160"/>
            <a:ext cx="37490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 model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C=0.1 — L2 regularisation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tuned to 0.40 on validation set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90288" y="896112"/>
            <a:ext cx="40233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90288" y="896112"/>
            <a:ext cx="4023360" cy="329184"/>
          </a:xfrm>
          <a:prstGeom prst="rect">
            <a:avLst/>
          </a:prstGeom>
          <a:solidFill>
            <a:srgbClr val="1E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0016" y="896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 ✓  Best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18304" y="1280160"/>
            <a:ext cx="37490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search: 3,5,7,10,15,None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max_depth=5 (val F1=0.521)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predict_proba + threshold 0.40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" y="2834640"/>
            <a:ext cx="40233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92608" y="2834640"/>
            <a:ext cx="4023360" cy="329184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2336" y="28346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0624" y="3218688"/>
            <a:ext cx="37490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search: 3,5,9,15,21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k=15 (val AUC=0.724)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weights='distance'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scale — RobustScaler critical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90288" y="2834640"/>
            <a:ext cx="40233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90288" y="2834640"/>
            <a:ext cx="4023360" cy="329184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0016" y="28346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(MLP)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18304" y="3218688"/>
            <a:ext cx="37490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layers: 128→64→32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+ Adam optimizer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(patience=15)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Converged after 163 iterations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92608" y="4617720"/>
            <a:ext cx="8394192" cy="384048"/>
          </a:xfrm>
          <a:prstGeom prst="rect">
            <a:avLst/>
          </a:prstGeom>
          <a:solidFill>
            <a:srgbClr val="FEF9E7"/>
          </a:solidFill>
          <a:ln w="1016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46177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51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Naive Bayes was excluded — it assumes feature independence, which is violated by our highly correlated bill/payment columns.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92608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Results — Test Set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92608" y="914400"/>
            <a:ext cx="1920240" cy="1005840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9875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92608" y="1481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31720" y="914400"/>
            <a:ext cx="192024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31720" y="9875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331720" y="1481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70832" y="914400"/>
            <a:ext cx="192024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70832" y="9875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65.3%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370832" y="1481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9944" y="914400"/>
            <a:ext cx="1920240" cy="100584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9944" y="9875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72.3%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09944" y="1481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-2005350" y="4431323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(Best Model) — Test Set Metrics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2103120"/>
          <a:ext cx="8759952" cy="2066544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 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(k=15)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292608" y="4800600"/>
            <a:ext cx="8394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threshold = 0.40 applied to all models (chosen on validation set before touching test data)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92608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— Where the Model Fails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223760" y="365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92608" y="914400"/>
            <a:ext cx="4023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92608" y="914400"/>
            <a:ext cx="109728" cy="1051560"/>
          </a:xfrm>
          <a:prstGeom prst="rect">
            <a:avLst/>
          </a:prstGeom>
          <a:solidFill>
            <a:srgbClr val="1E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" y="9875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" y="12618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~864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47088" y="12984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Defaulters correctly caught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90288" y="914400"/>
            <a:ext cx="4023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90288" y="914400"/>
            <a:ext cx="109728" cy="10515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91456" y="9875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91456" y="12618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~3,487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44768" y="12984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clients correctly cleared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2608" y="2103120"/>
            <a:ext cx="4023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92608" y="2103120"/>
            <a:ext cx="109728" cy="105156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3776" y="21762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" y="245059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~1,185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847088" y="24871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clients wrongly flagged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90288" y="2103120"/>
            <a:ext cx="4023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90288" y="2103120"/>
            <a:ext cx="109728" cy="10515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91456" y="21762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91456" y="245059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~464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144768" y="24871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defaulters — most costly!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2608" y="3337560"/>
            <a:ext cx="8394192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92608" y="3337560"/>
            <a:ext cx="8394192" cy="31089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02336" y="3337560"/>
            <a:ext cx="8266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Model Fails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02336" y="3703320"/>
            <a:ext cx="821131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Low-delay defaulters — clients with max_delay=0 who default unexpectedly (sudden job loss, medical crisis — invisible in data)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Near-threshold cases — predicted probability clusters just below 0.40 (genuinely ambiguous clients)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— no income, employment, or external credit score available to the model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window — stress starting before the window is invisible to all features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92608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 Usage &amp; Reflection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223760" y="365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92608" y="896112"/>
            <a:ext cx="839419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92608" y="896112"/>
            <a:ext cx="109728" cy="123444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" y="950976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 — "What engineered features would improve recall for credit card default?"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1225296"/>
            <a:ext cx="8092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payment_ratio, util_rate, revolving flag — all used    </a:t>
            </a: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Wrong: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suggested Fourier features on bill series — dropped (not explainable)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1499616"/>
            <a:ext cx="8092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each feature by computing correlation with target before including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" y="1783080"/>
            <a:ext cx="8394192" cy="18288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92608" y="2249424"/>
            <a:ext cx="839419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92608" y="2249424"/>
            <a:ext cx="109728" cy="12344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" y="2304288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— Auto-completed SMOTE inside the training loop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" y="2578608"/>
            <a:ext cx="8092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boilerplate for fit_resample call    </a:t>
            </a: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Wrong: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SMOTE BEFORE the train/test split — data leakage!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" y="2852928"/>
            <a:ext cx="8092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SMOTE to after splitting; validated that val/test sets are untouched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" y="3136392"/>
            <a:ext cx="8394192" cy="18288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92608" y="3602736"/>
            <a:ext cx="839419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92608" y="3602736"/>
            <a:ext cx="109728" cy="123444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" y="3657600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 — "RobustScaler or StandardScaler for skewed financial data?"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" y="3931920"/>
            <a:ext cx="8092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recommended RobustScaler (median/IQR, outlier-resistant)    </a:t>
            </a: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Wrong: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suggest combining with winsorization first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" y="4206240"/>
            <a:ext cx="8092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applied both: winsorization then RobustScaler (our own design)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92608" y="4489704"/>
            <a:ext cx="8394192" cy="18288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92608" y="4864608"/>
            <a:ext cx="8394192" cy="18288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92608" y="4864608"/>
            <a:ext cx="8394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final decisions and verification were performed manually by the team. AI was used only for brainstorming and debugging assistance.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0" y="960120"/>
            <a:ext cx="3657600" cy="36576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3840480" cy="2011680"/>
          </a:xfrm>
          <a:prstGeom prst="rect">
            <a:avLst/>
          </a:prstGeom>
          <a:solidFill>
            <a:srgbClr val="162E4A"/>
          </a:solidFill>
          <a:ln w="19050">
            <a:solidFill>
              <a:srgbClr val="1E714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408176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(max_depth = 5)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993392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AUC-ROC: 0.760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91640" y="1993392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0.510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0" y="1993392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65.3%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450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· Fast · No scaling needed at inference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1078992"/>
            <a:ext cx="4480560" cy="2011680"/>
          </a:xfrm>
          <a:prstGeom prst="rect">
            <a:avLst/>
          </a:prstGeom>
          <a:solidFill>
            <a:srgbClr val="162E4A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34840" y="111556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34840" y="1444752"/>
            <a:ext cx="4297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&gt; raw monthly columns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must be applied AFTER splitting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misleading with imbalanced data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0.40 chosen on validation — not test set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200400"/>
            <a:ext cx="8503920" cy="1664208"/>
          </a:xfrm>
          <a:prstGeom prst="rect">
            <a:avLst/>
          </a:prstGeom>
          <a:solidFill>
            <a:srgbClr val="162E4A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23697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income/employment data — ceiling on recall improvement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window too short for slow-building financial stress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Gradient Boosted Trees (XGBoost/LightGBM) · richer external data · calibrated thresholds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1231</Words>
  <Application>Microsoft Office PowerPoint</Application>
  <PresentationFormat>On-screen Show (16:9)</PresentationFormat>
  <Paragraphs>204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Default Prediction – CSE374</dc:title>
  <dc:subject>PptxGenJS Presentation</dc:subject>
  <dc:creator>PptxGenJS</dc:creator>
  <cp:lastModifiedBy>George Ibrahim</cp:lastModifiedBy>
  <cp:revision>2</cp:revision>
  <dcterms:created xsi:type="dcterms:W3CDTF">2026-05-08T16:09:00Z</dcterms:created>
  <dcterms:modified xsi:type="dcterms:W3CDTF">2026-05-08T16:48:26Z</dcterms:modified>
</cp:coreProperties>
</file>